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9906000" cx="6858000"/>
  <p:notesSz cx="6858000" cy="9144000"/>
  <p:embeddedFontLst>
    <p:embeddedFont>
      <p:font typeface="Play"/>
      <p:regular r:id="rId6"/>
      <p:bold r:id="rId7"/>
    </p:embeddedFont>
    <p:embeddedFont>
      <p:font typeface="Montserrat"/>
      <p:regular r:id="rId8"/>
      <p:bold r:id="rId9"/>
      <p:italic r:id="rId10"/>
      <p:boldItalic r:id="rId11"/>
    </p:embeddedFont>
    <p:embeddedFont>
      <p:font typeface="Heebo Light"/>
      <p:regular r:id="rId12"/>
      <p:bold r:id="rId13"/>
    </p:embeddedFont>
    <p:embeddedFont>
      <p:font typeface="PT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iAqQrQ2ocfJ1+2My3Lm2MVE8c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13" Type="http://schemas.openxmlformats.org/officeDocument/2006/relationships/font" Target="fonts/HeeboLight-bold.fntdata"/><Relationship Id="rId12" Type="http://schemas.openxmlformats.org/officeDocument/2006/relationships/font" Target="fonts/Heebo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Montserrat-bold.fntdata"/><Relationship Id="rId15" Type="http://schemas.openxmlformats.org/officeDocument/2006/relationships/font" Target="fonts/PTSans-bold.fntdata"/><Relationship Id="rId14" Type="http://schemas.openxmlformats.org/officeDocument/2006/relationships/font" Target="fonts/PTSans-regular.fntdata"/><Relationship Id="rId17" Type="http://schemas.openxmlformats.org/officeDocument/2006/relationships/font" Target="fonts/PTSans-boldItalic.fntdata"/><Relationship Id="rId16" Type="http://schemas.openxmlformats.org/officeDocument/2006/relationships/font" Target="fonts/PTSans-italic.fntdata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18" Type="http://customschemas.google.com/relationships/presentationmetadata" Target="metadata"/><Relationship Id="rId7" Type="http://schemas.openxmlformats.org/officeDocument/2006/relationships/font" Target="fonts/Play-bold.fntdata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p1"/>
          <p:cNvPicPr preferRelativeResize="0"/>
          <p:nvPr/>
        </p:nvPicPr>
        <p:blipFill rotWithShape="1">
          <a:blip r:embed="rId3">
            <a:alphaModFix amt="35000"/>
          </a:blip>
          <a:srcRect b="0" l="2139" r="0" t="0"/>
          <a:stretch/>
        </p:blipFill>
        <p:spPr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0" y="0"/>
            <a:ext cx="6858000" cy="9921301"/>
          </a:xfrm>
          <a:prstGeom prst="rect">
            <a:avLst/>
          </a:prstGeom>
          <a:solidFill>
            <a:srgbClr val="0D0A2C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590416" y="-118387"/>
            <a:ext cx="7311628" cy="896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000"/>
              <a:buFont typeface="Montserrat"/>
              <a:buNone/>
            </a:pPr>
            <a:r>
              <a:rPr lang="en-US" sz="40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Smart Campus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589485" y="707942"/>
            <a:ext cx="10006608" cy="397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222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800"/>
              <a:buFont typeface="Montserrat"/>
              <a:buNone/>
            </a:pPr>
            <a:r>
              <a:rPr lang="en-US" sz="18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Classroom Occupancy Detection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919401" y="1443826"/>
            <a:ext cx="2382917" cy="297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600"/>
              <a:buFont typeface="Montserrat"/>
              <a:buNone/>
            </a:pPr>
            <a:r>
              <a:rPr b="1" lang="en-US" sz="16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The Challenge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079439" y="1443826"/>
            <a:ext cx="2382917" cy="297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800"/>
              <a:buFont typeface="Montserrat"/>
              <a:buNone/>
            </a:pPr>
            <a:r>
              <a:rPr b="1" lang="en-US" sz="18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Our</a:t>
            </a:r>
            <a:r>
              <a:rPr lang="en-US" sz="18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18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398958" y="1852178"/>
            <a:ext cx="2814340" cy="508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Classrooms across universities waste significant energy when empty, leading to unnecessary costs and environmental impact. Traditional occupancy detection methods are inefficient and unreliable.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3696476" y="1852178"/>
            <a:ext cx="2452099" cy="508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Heebo Light"/>
              <a:buNone/>
            </a:pPr>
            <a:r>
              <a:rPr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Real-time occupancy prediction using </a:t>
            </a:r>
            <a:r>
              <a:rPr b="1"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IoT sensors</a:t>
            </a:r>
            <a:r>
              <a:rPr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and </a:t>
            </a:r>
            <a:r>
              <a:rPr b="1"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machine learning algorithms</a:t>
            </a:r>
            <a:r>
              <a:rPr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to monitor Temperature, Humidity, CO₂, and Light levels.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1"/>
          <p:cNvCxnSpPr/>
          <p:nvPr/>
        </p:nvCxnSpPr>
        <p:spPr>
          <a:xfrm>
            <a:off x="3429000" y="1554402"/>
            <a:ext cx="0" cy="1709464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" name="Google Shape;93;p1"/>
          <p:cNvSpPr/>
          <p:nvPr/>
        </p:nvSpPr>
        <p:spPr>
          <a:xfrm>
            <a:off x="1240988" y="3637276"/>
            <a:ext cx="2382917" cy="297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850"/>
              <a:buFont typeface="Montserrat"/>
              <a:buNone/>
            </a:pPr>
            <a:r>
              <a:rPr lang="en-US" sz="18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b="1" lang="en-US" sz="14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Room: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23457" y="4056304"/>
            <a:ext cx="1457737" cy="524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9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00"/>
              <a:buFont typeface="Montserrat"/>
              <a:buNone/>
            </a:pPr>
            <a:r>
              <a:rPr lang="en-US" sz="14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77%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43637" y="4458800"/>
            <a:ext cx="1985724" cy="248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7272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lang="en-US" sz="11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Unoccupied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1550908" y="4702401"/>
            <a:ext cx="5174813" cy="25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Heebo Light"/>
              <a:buNone/>
            </a:pPr>
            <a:r>
              <a:rPr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Classroom utilization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4943" y="4065828"/>
            <a:ext cx="5174813" cy="524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9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00"/>
              <a:buFont typeface="Montserrat"/>
              <a:buNone/>
            </a:pPr>
            <a:r>
              <a:rPr lang="en-US" sz="14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23%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1556267" y="4457567"/>
            <a:ext cx="1985724" cy="248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7272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lang="en-US" sz="11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Occupied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-62864" y="4700637"/>
            <a:ext cx="5174813" cy="25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Heebo Light"/>
              <a:buNone/>
            </a:pPr>
            <a:r>
              <a:rPr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Active usage time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3732343" y="3623875"/>
            <a:ext cx="3832265" cy="297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Key Findings from Data Analysis</a:t>
            </a:r>
            <a:endParaRPr/>
          </a:p>
        </p:txBody>
      </p:sp>
      <p:cxnSp>
        <p:nvCxnSpPr>
          <p:cNvPr id="101" name="Google Shape;101;p1"/>
          <p:cNvCxnSpPr/>
          <p:nvPr/>
        </p:nvCxnSpPr>
        <p:spPr>
          <a:xfrm flipH="1" rot="10800000">
            <a:off x="3427036" y="3627920"/>
            <a:ext cx="7801" cy="4472751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1"/>
          <p:cNvSpPr/>
          <p:nvPr/>
        </p:nvSpPr>
        <p:spPr>
          <a:xfrm>
            <a:off x="3732343" y="4137757"/>
            <a:ext cx="2790107" cy="894258"/>
          </a:xfrm>
          <a:prstGeom prst="roundRect">
            <a:avLst>
              <a:gd fmla="val 4261" name="adj"/>
            </a:avLst>
          </a:prstGeom>
          <a:solidFill>
            <a:srgbClr val="31136C"/>
          </a:solidFill>
          <a:ln cap="flat" cmpd="sng" w="9525">
            <a:solidFill>
              <a:srgbClr val="481C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3793917" y="4197220"/>
            <a:ext cx="217822" cy="214024"/>
          </a:xfrm>
          <a:prstGeom prst="roundRect">
            <a:avLst>
              <a:gd fmla="val 19188491" name="adj"/>
            </a:avLst>
          </a:prstGeom>
          <a:solidFill>
            <a:srgbClr val="481C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4" name="Google Shape;10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3330" y="4212521"/>
            <a:ext cx="158996" cy="19872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"/>
          <p:cNvSpPr/>
          <p:nvPr/>
        </p:nvSpPr>
        <p:spPr>
          <a:xfrm>
            <a:off x="4072276" y="4180359"/>
            <a:ext cx="1106566" cy="248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Montserrat"/>
              <a:buNone/>
            </a:pPr>
            <a:r>
              <a:rPr lang="en-US" sz="1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Light Levels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246043" y="8107965"/>
            <a:ext cx="6346746" cy="25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3810683" y="4448521"/>
            <a:ext cx="2824698" cy="583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Strongest predictor</a:t>
            </a:r>
            <a:r>
              <a:rPr lang="en-US" sz="1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with clear separation between occupied and unoccupied states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3732343" y="5179137"/>
            <a:ext cx="2790107" cy="894258"/>
          </a:xfrm>
          <a:prstGeom prst="roundRect">
            <a:avLst>
              <a:gd fmla="val 4261" name="adj"/>
            </a:avLst>
          </a:prstGeom>
          <a:solidFill>
            <a:srgbClr val="31136C"/>
          </a:solidFill>
          <a:ln cap="flat" cmpd="sng" w="9525">
            <a:solidFill>
              <a:srgbClr val="481C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3793917" y="5238600"/>
            <a:ext cx="217822" cy="214024"/>
          </a:xfrm>
          <a:prstGeom prst="roundRect">
            <a:avLst>
              <a:gd fmla="val 19188491" name="adj"/>
            </a:avLst>
          </a:prstGeom>
          <a:solidFill>
            <a:srgbClr val="481C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3732343" y="7333515"/>
            <a:ext cx="2790107" cy="894258"/>
          </a:xfrm>
          <a:prstGeom prst="roundRect">
            <a:avLst>
              <a:gd fmla="val 4261" name="adj"/>
            </a:avLst>
          </a:prstGeom>
          <a:solidFill>
            <a:srgbClr val="31136C"/>
          </a:solidFill>
          <a:ln cap="flat" cmpd="sng" w="9525">
            <a:solidFill>
              <a:srgbClr val="481C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3793917" y="7392978"/>
            <a:ext cx="217822" cy="214024"/>
          </a:xfrm>
          <a:prstGeom prst="roundRect">
            <a:avLst>
              <a:gd fmla="val 19188491" name="adj"/>
            </a:avLst>
          </a:prstGeom>
          <a:solidFill>
            <a:srgbClr val="481C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3716895" y="6257256"/>
            <a:ext cx="2790107" cy="894258"/>
          </a:xfrm>
          <a:prstGeom prst="roundRect">
            <a:avLst>
              <a:gd fmla="val 4261" name="adj"/>
            </a:avLst>
          </a:prstGeom>
          <a:solidFill>
            <a:srgbClr val="31136C"/>
          </a:solidFill>
          <a:ln cap="flat" cmpd="sng" w="9525">
            <a:solidFill>
              <a:srgbClr val="481C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3778469" y="6316719"/>
            <a:ext cx="217822" cy="214024"/>
          </a:xfrm>
          <a:prstGeom prst="roundRect">
            <a:avLst>
              <a:gd fmla="val 19188491" name="adj"/>
            </a:avLst>
          </a:prstGeom>
          <a:solidFill>
            <a:srgbClr val="481C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4" name="Google Shape;11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26443" y="5250766"/>
            <a:ext cx="142550" cy="1781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3816652" y="6364208"/>
            <a:ext cx="119773" cy="149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40041" y="7412528"/>
            <a:ext cx="139952" cy="17492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"/>
          <p:cNvSpPr/>
          <p:nvPr/>
        </p:nvSpPr>
        <p:spPr>
          <a:xfrm>
            <a:off x="4041385" y="5219684"/>
            <a:ext cx="1985724" cy="248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Montserrat"/>
              <a:buNone/>
            </a:pPr>
            <a:r>
              <a:rPr lang="en-US" sz="1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CO₂ Concentration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4073313" y="7365763"/>
            <a:ext cx="1985724" cy="248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Montserrat"/>
              <a:buNone/>
            </a:pPr>
            <a:r>
              <a:rPr lang="en-US" sz="1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Temperature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4048206" y="6310168"/>
            <a:ext cx="1985724" cy="248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Montserrat"/>
              <a:buNone/>
            </a:pPr>
            <a:r>
              <a:rPr lang="en-US" sz="1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Humidity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3938077" y="5515419"/>
            <a:ext cx="6346865" cy="25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1818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Heebo Light"/>
              <a:buNone/>
            </a:pPr>
            <a:r>
              <a:rPr b="1" lang="en-US" sz="1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Reliable secondary indicator</a:t>
            </a:r>
            <a:r>
              <a:rPr lang="en-US" sz="1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that rises </a:t>
            </a:r>
            <a:endParaRPr/>
          </a:p>
          <a:p>
            <a:pPr indent="0" lvl="0" marL="0" marR="0" rtl="0" algn="l">
              <a:lnSpc>
                <a:spcPct val="181818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Heebo Light"/>
              <a:buNone/>
            </a:pPr>
            <a:r>
              <a:rPr lang="en-US" sz="1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consistently when rooms are occupied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3890449" y="7673254"/>
            <a:ext cx="1865385" cy="25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1818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Heebo Light"/>
              <a:buNone/>
            </a:pPr>
            <a:r>
              <a:rPr b="1" lang="en-US" sz="1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Moderate effect</a:t>
            </a:r>
            <a:r>
              <a:rPr lang="en-US" sz="1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on occupancy detection </a:t>
            </a:r>
            <a:endParaRPr/>
          </a:p>
          <a:p>
            <a:pPr indent="0" lvl="0" marL="0" marR="0" rtl="0" algn="l">
              <a:lnSpc>
                <a:spcPct val="181818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Heebo Light"/>
              <a:buNone/>
            </a:pPr>
            <a:r>
              <a:rPr lang="en-US" sz="1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accuracy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3843819" y="6592224"/>
            <a:ext cx="6346865" cy="25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1818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Heebo Light"/>
              <a:buNone/>
            </a:pPr>
            <a:r>
              <a:rPr b="1" lang="en-US" sz="1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Weak correlation</a:t>
            </a:r>
            <a:r>
              <a:rPr lang="en-US" sz="1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with occupancy patterns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628626" y="5626266"/>
            <a:ext cx="2382917" cy="297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850"/>
              <a:buFont typeface="Montserrat"/>
              <a:buNone/>
            </a:pPr>
            <a:r>
              <a:rPr lang="en-US" sz="18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Model Performance</a:t>
            </a:r>
            <a:endParaRPr sz="1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1449113" y="6957719"/>
            <a:ext cx="1985724" cy="248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7272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lang="en-US" sz="11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-856308" y="7185186"/>
            <a:ext cx="6565344" cy="25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90476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050"/>
              <a:buFont typeface="Heebo Light"/>
              <a:buNone/>
            </a:pPr>
            <a:r>
              <a:rPr lang="en-US" sz="10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Accuracy with </a:t>
            </a:r>
            <a:endParaRPr/>
          </a:p>
          <a:p>
            <a:pPr indent="0" lvl="0" marL="0" marR="0" rtl="0" algn="ctr">
              <a:lnSpc>
                <a:spcPct val="190476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050"/>
              <a:buFont typeface="Heebo Light"/>
              <a:buNone/>
            </a:pPr>
            <a:r>
              <a:rPr lang="en-US" sz="10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F1 score of 0.974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-195678" y="6973020"/>
            <a:ext cx="1985724" cy="248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7272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lang="en-US" sz="11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Random Forest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-2502927" y="7194488"/>
            <a:ext cx="6565344" cy="25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90476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050"/>
              <a:buFont typeface="Heebo Light"/>
              <a:buNone/>
            </a:pPr>
            <a:r>
              <a:rPr lang="en-US" sz="10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Accuracy with </a:t>
            </a:r>
            <a:endParaRPr/>
          </a:p>
          <a:p>
            <a:pPr indent="0" lvl="0" marL="0" marR="0" rtl="0" algn="ctr">
              <a:lnSpc>
                <a:spcPct val="190476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050"/>
              <a:buFont typeface="Heebo Light"/>
              <a:buNone/>
            </a:pPr>
            <a:r>
              <a:rPr lang="en-US" sz="10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F1 score of 0.982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23959" y="5335285"/>
            <a:ext cx="1837641" cy="24446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preencoded.png" id="129" name="Google Shape;12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51325" y="5961073"/>
            <a:ext cx="946434" cy="946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2556" y="5999413"/>
            <a:ext cx="946434" cy="94643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"/>
          <p:cNvSpPr/>
          <p:nvPr/>
        </p:nvSpPr>
        <p:spPr>
          <a:xfrm>
            <a:off x="-171195" y="6269747"/>
            <a:ext cx="1953935" cy="397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000"/>
              <a:buFont typeface="Montserrat"/>
              <a:buNone/>
            </a:pPr>
            <a:r>
              <a:rPr lang="en-US" sz="20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99.1%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1571190" y="6250697"/>
            <a:ext cx="1953935" cy="397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98.8%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-39885" y="7800294"/>
            <a:ext cx="3440133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81818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Heebo Light"/>
              <a:buNone/>
            </a:pPr>
            <a:r>
              <a:rPr lang="en-US" sz="1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"Both models demonstrate exceptional accuracy, with Random Forest offering maximum performance and Logistic Regression providing simplicity and interpretability for practical deployment."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2553674" y="8369338"/>
            <a:ext cx="453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Supervisor: Mayya Lihovodov</a:t>
            </a:r>
            <a:endParaRPr sz="120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0" lvl="0" marL="0" marR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Heebo Light"/>
              <a:buNone/>
            </a:pPr>
            <a:r>
              <a:rPr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Students: </a:t>
            </a:r>
            <a:endParaRPr/>
          </a:p>
        </p:txBody>
      </p:sp>
      <p:sp>
        <p:nvSpPr>
          <p:cNvPr id="135" name="Google Shape;135;p1"/>
          <p:cNvSpPr txBox="1"/>
          <p:nvPr/>
        </p:nvSpPr>
        <p:spPr>
          <a:xfrm>
            <a:off x="2909378" y="9021442"/>
            <a:ext cx="4538928" cy="1183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• Shira Vainer </a:t>
            </a:r>
            <a:r>
              <a:rPr b="1"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206533184</a:t>
            </a:r>
            <a:r>
              <a:rPr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      • Menalu chekol </a:t>
            </a:r>
            <a:r>
              <a:rPr b="1"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328858071</a:t>
            </a:r>
            <a:endParaRPr/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• Trngo Abawa </a:t>
            </a:r>
            <a:r>
              <a:rPr b="1"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332565050</a:t>
            </a:r>
            <a:r>
              <a:rPr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    • Zohar Shalom </a:t>
            </a:r>
            <a:r>
              <a:rPr b="1"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21251203</a:t>
            </a:r>
            <a:r>
              <a:rPr lang="en-US" sz="1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  </a:t>
            </a:r>
            <a:endParaRPr/>
          </a:p>
          <a:p>
            <a:pPr indent="0" lvl="0" marL="0" marR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ערכת נושא Office">
  <a:themeElements>
    <a:clrScheme name="ערכת נושא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2025-09-25T20:01:33Z</dcterms:created>
  <dc:creator>Shira Vainer</dc:creator>
</cp:coreProperties>
</file>